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BB07A-1672-8144-BB75-8A9265198941}" v="1" dt="2026-05-05T00:27:43.377"/>
    <p1510:client id="{69F6E3FB-0084-F7BD-20F3-524C0E45345A}" v="63" dt="2026-05-05T00:29:11.259"/>
    <p1510:client id="{6B640923-2520-E678-9D03-3E3CBFEC8199}" v="6" dt="2026-05-05T00:28:01.782"/>
    <p1510:client id="{DC296121-13CC-D6C3-35D0-C6771F8D2DF8}" v="12" dt="2026-05-05T00:27:58.955"/>
    <p1510:client id="{F0E50EBD-AADE-2979-95AC-9F25F1966529}" v="162" dt="2026-05-05T00:13:14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451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468880"/>
            <a:ext cx="164592" cy="2011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Benchmarking Ten Deep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for Fine-Grained Video Action Recognition on Something-Something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5A623"/>
                </a:solidFill>
                <a:latin typeface="Calibri"/>
              </a:rPr>
              <a:t>CAP 5610 Final Project,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100584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Munish Pers</a:t>
            </a:r>
            <a:r>
              <a:rPr lang="en-US" sz="1800" b="0">
                <a:solidFill>
                  <a:srgbClr val="FFFFFF"/>
                </a:solidFill>
                <a:latin typeface="Calibri"/>
              </a:rPr>
              <a:t>aud</a:t>
            </a:r>
            <a:r>
              <a:rPr sz="1800" b="0">
                <a:solidFill>
                  <a:srgbClr val="FFFFFF"/>
                </a:solidFill>
                <a:latin typeface="Calibri"/>
              </a:rPr>
              <a:t>, Ayaan</a:t>
            </a:r>
            <a:r>
              <a:rPr lang="en-US">
                <a:solidFill>
                  <a:srgbClr val="FFFFFF"/>
                </a:solidFill>
                <a:latin typeface="Calibri"/>
              </a:rPr>
              <a:t> Khan</a:t>
            </a:r>
            <a:r>
              <a:rPr sz="1800" b="0">
                <a:solidFill>
                  <a:srgbClr val="FFFFFF"/>
                </a:solidFill>
                <a:latin typeface="Calibri"/>
              </a:rPr>
              <a:t>, Aiden</a:t>
            </a:r>
            <a:r>
              <a:rPr lang="en-US">
                <a:solidFill>
                  <a:srgbClr val="FFFFFF"/>
                </a:solidFill>
                <a:latin typeface="Calibri"/>
              </a:rPr>
              <a:t> Letourneau</a:t>
            </a:r>
            <a:r>
              <a:rPr sz="1800" b="0">
                <a:solidFill>
                  <a:srgbClr val="FFFFFF"/>
                </a:solidFill>
                <a:latin typeface="Calibri"/>
              </a:rPr>
              <a:t>, Kenneth</a:t>
            </a:r>
            <a:r>
              <a:rPr lang="en-US">
                <a:solidFill>
                  <a:srgbClr val="FFFFFF"/>
                </a:solidFill>
                <a:latin typeface="Calibri"/>
              </a:rPr>
              <a:t> Valladares</a:t>
            </a:r>
            <a:r>
              <a:rPr sz="1800" b="0">
                <a:solidFill>
                  <a:srgbClr val="FFFFFF"/>
                </a:solidFill>
                <a:latin typeface="Calibri"/>
              </a:rPr>
              <a:t>, </a:t>
            </a:r>
            <a:r>
              <a:rPr lang="en-US">
                <a:solidFill>
                  <a:srgbClr val="FFFFFF"/>
                </a:solidFill>
                <a:latin typeface="Calibri"/>
              </a:rPr>
              <a:t>Arthur </a:t>
            </a:r>
            <a:r>
              <a:rPr lang="en-US" err="1">
                <a:solidFill>
                  <a:srgbClr val="FFFFFF"/>
                </a:solidFill>
                <a:latin typeface="Calibri"/>
              </a:rPr>
              <a:t>Lookshin</a:t>
            </a:r>
            <a:endParaRPr lang="en-US" sz="1800" b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Calibri"/>
              </a:rPr>
              <a:t>University of Central Florida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Something-Something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5A623"/>
                </a:solidFill>
              </a:rPr>
              <a:t>■  </a:t>
            </a:r>
            <a:r>
              <a:rPr sz="2600">
                <a:solidFill>
                  <a:srgbClr val="101828"/>
                </a:solidFill>
                <a:latin typeface="Calibri"/>
              </a:rPr>
              <a:t>174 fine-grained action classes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F5A623"/>
                </a:solidFill>
              </a:rPr>
              <a:t>■  </a:t>
            </a:r>
            <a:r>
              <a:rPr sz="2600">
                <a:solidFill>
                  <a:srgbClr val="101828"/>
                </a:solidFill>
                <a:latin typeface="Calibri"/>
              </a:rPr>
              <a:t>168,913 train  /  24,777 val  /  27,157 test clips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F5A623"/>
                </a:solidFill>
              </a:rPr>
              <a:t>■  </a:t>
            </a:r>
            <a:r>
              <a:rPr sz="2600">
                <a:solidFill>
                  <a:srgbClr val="101828"/>
                </a:solidFill>
                <a:latin typeface="Calibri"/>
              </a:rPr>
              <a:t>Direction-sensitive labels (no horizontal flip)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18288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673471"/>
            <a:ext cx="1069848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If you can tell push</a:t>
            </a:r>
            <a:r>
              <a:rPr lang="en-US" sz="3200" b="1">
                <a:solidFill>
                  <a:srgbClr val="FFFFFF"/>
                </a:solidFill>
                <a:latin typeface="Calibri"/>
              </a:rPr>
              <a:t> </a:t>
            </a:r>
            <a:r>
              <a:rPr sz="3200" b="1">
                <a:solidFill>
                  <a:srgbClr val="FFFFFF"/>
                </a:solidFill>
                <a:latin typeface="Calibri"/>
              </a:rPr>
              <a:t>left from push</a:t>
            </a:r>
            <a:r>
              <a:rPr lang="en-US" sz="3200" b="1">
                <a:solidFill>
                  <a:srgbClr val="FFFFFF"/>
                </a:solidFill>
                <a:latin typeface="Calibri"/>
              </a:rPr>
              <a:t> </a:t>
            </a:r>
            <a:r>
              <a:rPr sz="3200" b="1">
                <a:solidFill>
                  <a:srgbClr val="FFFFFF"/>
                </a:solidFill>
                <a:latin typeface="Calibri"/>
              </a:rPr>
              <a:t>right,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you can pass.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Ten architectures, one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CNN 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914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2918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TSM</a:t>
            </a:r>
          </a:p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R(2+1)D</a:t>
            </a:r>
          </a:p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SlowFast</a:t>
            </a:r>
          </a:p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CNN+ConvLSTM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657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Transformer family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331720"/>
            <a:ext cx="914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2918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TimeSformer</a:t>
            </a:r>
          </a:p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VideoMAE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657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Other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331720"/>
            <a:ext cx="914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32918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VideoMamba (SSM)</a:t>
            </a:r>
          </a:p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ST-GCN (graph)</a:t>
            </a:r>
          </a:p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PredRNN (world model)</a:t>
            </a:r>
          </a:p>
          <a:p>
            <a:pPr algn="l"/>
            <a:r>
              <a:rPr sz="2000" b="0">
                <a:solidFill>
                  <a:srgbClr val="101828"/>
                </a:solidFill>
                <a:latin typeface="Calibri"/>
              </a:rPr>
              <a:t>- Qwen3.5-4B (VLM)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Reference: V-JEPA-2 frozen self-supervised baseline (Meta FAIR)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Evaluation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Caveat: Qwen has no top-5 (generative model, no rank order over the 174 labels).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630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1F3A"/>
                </a:solidFill>
                <a:latin typeface="Calibri"/>
              </a:rPr>
              <a:t>Top-1</a:t>
            </a:r>
          </a:p>
        </p:txBody>
      </p:sp>
      <p:pic>
        <p:nvPicPr>
          <p:cNvPr id="16" name="Picture 15" descr="eq_to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761" y="1188720"/>
            <a:ext cx="3552878" cy="1097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25603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1F3A"/>
                </a:solidFill>
                <a:latin typeface="Calibri"/>
              </a:rPr>
              <a:t>Top-5</a:t>
            </a:r>
          </a:p>
        </p:txBody>
      </p:sp>
      <p:pic>
        <p:nvPicPr>
          <p:cNvPr id="18" name="Picture 17" descr="eq_to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930" y="2286000"/>
            <a:ext cx="3222539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36576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1F3A"/>
                </a:solidFill>
                <a:latin typeface="Calibri"/>
              </a:rPr>
              <a:t>Weighted F1</a:t>
            </a:r>
          </a:p>
        </p:txBody>
      </p:sp>
      <p:pic>
        <p:nvPicPr>
          <p:cNvPr id="20" name="Picture 19" descr="eq_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1825" y="3383280"/>
            <a:ext cx="4446749" cy="1097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754879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1F3A"/>
                </a:solidFill>
                <a:latin typeface="Calibri"/>
              </a:rPr>
              <a:t>Confusion matrix</a:t>
            </a:r>
          </a:p>
        </p:txBody>
      </p:sp>
      <p:pic>
        <p:nvPicPr>
          <p:cNvPr id="22" name="Picture 21" descr="eq_confu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4561952"/>
            <a:ext cx="8961120" cy="9344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got in the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39130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F5A623"/>
                </a:solidFill>
              </a:rPr>
              <a:t>■  </a:t>
            </a:r>
            <a:r>
              <a:rPr sz="2400">
                <a:solidFill>
                  <a:srgbClr val="101828"/>
                </a:solidFill>
                <a:latin typeface="Calibri"/>
              </a:rPr>
              <a:t>RTX 5090 sm_120 not supported by stable </a:t>
            </a:r>
            <a:r>
              <a:rPr lang="en-US" sz="2400" err="1">
                <a:solidFill>
                  <a:srgbClr val="101828"/>
                </a:solidFill>
                <a:latin typeface="Calibri"/>
              </a:rPr>
              <a:t>PyTorch</a:t>
            </a:r>
            <a:r>
              <a:rPr sz="2400">
                <a:solidFill>
                  <a:srgbClr val="101828"/>
                </a:solidFill>
                <a:latin typeface="Calibri"/>
              </a:rPr>
              <a:t> builds (</a:t>
            </a:r>
            <a:r>
              <a:rPr lang="en-US" sz="2400" err="1">
                <a:solidFill>
                  <a:srgbClr val="101828"/>
                </a:solidFill>
                <a:latin typeface="Calibri"/>
              </a:rPr>
              <a:t>SlowFast</a:t>
            </a:r>
            <a:r>
              <a:rPr sz="2400">
                <a:solidFill>
                  <a:srgbClr val="101828"/>
                </a:solidFill>
                <a:latin typeface="Calibri"/>
              </a:rPr>
              <a:t> crashed mid-epoch)</a:t>
            </a:r>
          </a:p>
          <a:p>
            <a:pPr algn="l">
              <a:lnSpc>
                <a:spcPct val="150000"/>
              </a:lnSpc>
            </a:pPr>
            <a:r>
              <a:rPr sz="2400" b="1">
                <a:solidFill>
                  <a:srgbClr val="F5A623"/>
                </a:solidFill>
              </a:rPr>
              <a:t>■  </a:t>
            </a:r>
            <a:r>
              <a:rPr lang="en-US" sz="2400" err="1">
                <a:solidFill>
                  <a:srgbClr val="101828"/>
                </a:solidFill>
                <a:latin typeface="Calibri"/>
              </a:rPr>
              <a:t>Dataloader</a:t>
            </a:r>
            <a:r>
              <a:rPr sz="2400">
                <a:solidFill>
                  <a:srgbClr val="101828"/>
                </a:solidFill>
                <a:latin typeface="Calibri"/>
              </a:rPr>
              <a:t> stalls on </a:t>
            </a:r>
            <a:r>
              <a:rPr lang="en-US" sz="2400" err="1">
                <a:solidFill>
                  <a:srgbClr val="101828"/>
                </a:solidFill>
                <a:latin typeface="Calibri"/>
              </a:rPr>
              <a:t>webm</a:t>
            </a:r>
            <a:r>
              <a:rPr sz="2400">
                <a:solidFill>
                  <a:srgbClr val="101828"/>
                </a:solidFill>
                <a:latin typeface="Calibri"/>
              </a:rPr>
              <a:t> decoding cost </a:t>
            </a:r>
            <a:r>
              <a:rPr lang="en-US" sz="2400" err="1">
                <a:solidFill>
                  <a:srgbClr val="101828"/>
                </a:solidFill>
                <a:latin typeface="Calibri"/>
              </a:rPr>
              <a:t>VideoMAE</a:t>
            </a:r>
            <a:r>
              <a:rPr sz="2400">
                <a:solidFill>
                  <a:srgbClr val="101828"/>
                </a:solidFill>
                <a:latin typeface="Calibri"/>
              </a:rPr>
              <a:t> 3-4x throughput</a:t>
            </a:r>
            <a:endParaRPr lang="en-US" sz="2400">
              <a:solidFill>
                <a:srgbClr val="101828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2400" b="1">
                <a:solidFill>
                  <a:srgbClr val="F5A623"/>
                </a:solidFill>
              </a:rPr>
              <a:t>■  </a:t>
            </a:r>
            <a:r>
              <a:rPr sz="2400">
                <a:solidFill>
                  <a:srgbClr val="101828"/>
                </a:solidFill>
                <a:latin typeface="Calibri"/>
              </a:rPr>
              <a:t>Vast.ai migration for Qwen and </a:t>
            </a:r>
            <a:r>
              <a:rPr lang="en-US" sz="2400" err="1">
                <a:solidFill>
                  <a:srgbClr val="101828"/>
                </a:solidFill>
                <a:latin typeface="Calibri"/>
              </a:rPr>
              <a:t>PredRNN</a:t>
            </a:r>
            <a:r>
              <a:rPr sz="2400">
                <a:solidFill>
                  <a:srgbClr val="101828"/>
                </a:solidFill>
                <a:latin typeface="Calibri"/>
              </a:rPr>
              <a:t> to escape Windows </a:t>
            </a:r>
            <a:r>
              <a:rPr lang="en-US" sz="2400" err="1">
                <a:solidFill>
                  <a:srgbClr val="101828"/>
                </a:solidFill>
                <a:latin typeface="Calibri"/>
              </a:rPr>
              <a:t>dataloader</a:t>
            </a:r>
            <a:r>
              <a:rPr sz="2400">
                <a:solidFill>
                  <a:srgbClr val="101828"/>
                </a:solidFill>
                <a:latin typeface="Calibri"/>
              </a:rPr>
              <a:t> contention</a:t>
            </a:r>
            <a:endParaRPr lang="en-US" sz="2400">
              <a:solidFill>
                <a:srgbClr val="101828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2400" b="1">
                <a:solidFill>
                  <a:srgbClr val="F5A623"/>
                </a:solidFill>
              </a:rPr>
              <a:t>■  </a:t>
            </a:r>
            <a:r>
              <a:rPr sz="2400">
                <a:solidFill>
                  <a:srgbClr val="101828"/>
                </a:solidFill>
                <a:latin typeface="Calibri"/>
              </a:rPr>
              <a:t>Label ambiguity in SSv2 templates (the 429-confusion Qwen pair)</a:t>
            </a:r>
            <a:endParaRPr lang="en-US" sz="2400">
              <a:solidFill>
                <a:srgbClr val="101828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en-US" sz="24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■ </a:t>
            </a:r>
            <a:r>
              <a:rPr lang="en-US" sz="2400">
                <a:solidFill>
                  <a:srgbClr val="101828"/>
                </a:solidFill>
                <a:latin typeface="Calibri"/>
                <a:ea typeface="Calibri"/>
                <a:cs typeface="Calibri"/>
              </a:rPr>
              <a:t>Labels for the dataset hidden by Qualcomm</a:t>
            </a:r>
            <a:endParaRPr lang="en-US" sz="2400">
              <a:solidFill>
                <a:srgbClr val="10182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we tuned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Common across all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8 or 16 frames per clip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224 x 224 spatial resolution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ImageNet-mean normalization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No horizontal flip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AdamW or SGD with cosine LR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Model-specific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Qwen QLoRA r=16, alpha=32 on q/k/v/o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ST-GCN SGD lr 0.1, step decay at 30/40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VideoMAE bf16, lr 5e-4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TimeSformer bf16, lr 1e-4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VideoMamba K400 init, bf16 selective scan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Headline result</a:t>
            </a:r>
          </a:p>
        </p:txBody>
      </p:sp>
      <p:pic>
        <p:nvPicPr>
          <p:cNvPr id="4" name="Picture 3" descr="results_bar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108813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Tier 1: V-JEPA, the SSL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029200" cy="2743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>
                <a:solidFill>
                  <a:srgbClr val="F5A623"/>
                </a:solidFill>
                <a:latin typeface="Calibri"/>
              </a:rPr>
              <a:t>64.51%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top-1, eval-only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Frozen ViT-L/16 backbone, frozen attentive probe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Meta FAIR pretraining on VideoMix2M plus Meta SSv2 probe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5 points below Meta's 69.5% (V100 + FP16, eval code hardcodes float16)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Tier 2: Qwen3.5-4B with QLoRA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029200" cy="2743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>
                <a:solidFill>
                  <a:srgbClr val="F5A623"/>
                </a:solidFill>
                <a:latin typeface="Calibri"/>
              </a:rPr>
              <a:t>58.19%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top-1, 1 epoch QLoRA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VLM repurposed via generative classification (model.generate then string-match to 174 labels)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Only 3.15M trainable LoRA params (0.12% of 2.59B total)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1 epoch on 168K samples, 43.3 hours on Vast.ai 5090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3353"/>
            <a:ext cx="1127729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Tier 3: VideoMamba and the Bimamba bug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B1F3A"/>
                </a:solidFill>
                <a:latin typeface="Calibri"/>
              </a:rPr>
              <a:t>1.45%  →  53.91%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>
                <a:solidFill>
                  <a:srgbClr val="4A4A4A"/>
                </a:solidFill>
                <a:latin typeface="Calibri"/>
              </a:rPr>
              <a:t>Top-1 on SSv2, after fixing one silent unidirectional kwarg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B1F3A"/>
                </a:solidFill>
                <a:latin typeface="Calibri"/>
              </a:rPr>
              <a:t>■  Pre-bugfix from-scratch run: 1.45% top-1 in 10 epochs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0B1F3A"/>
                </a:solidFill>
                <a:latin typeface="Calibri"/>
              </a:rPr>
              <a:t>■  Post-bugfix K400-finetuned: 53.91% top-1 in 2 epochs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0B1F3A"/>
                </a:solidFill>
                <a:latin typeface="Calibri"/>
              </a:rPr>
              <a:t>■  Stopped at 2 epochs because our selective-scan path is 3.5x slower than the fused mamba_inner_fn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0B1F3A"/>
                </a:solidFill>
                <a:latin typeface="Calibri"/>
              </a:rPr>
              <a:t>■  Conservative extrapolation to 15 epochs: 58 to 62% top-1, above Qwen, approaching V-JEPA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Tier 4: R(2+1)D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029200" cy="2743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5A623"/>
                </a:solidFill>
                <a:latin typeface="Calibri"/>
              </a:rPr>
              <a:t>46.36%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top-1   /   74.84% top-5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5A623"/>
                </a:solidFill>
              </a:rPr>
              <a:t>■  </a:t>
            </a:r>
            <a:r>
              <a:rPr sz="2200">
                <a:solidFill>
                  <a:srgbClr val="101828"/>
                </a:solidFill>
                <a:latin typeface="Calibri"/>
              </a:rPr>
              <a:t>Spatiotemporal-separable 3D convolutions, ImageNet-init R(2+1)D-18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5A623"/>
                </a:solidFill>
              </a:rPr>
              <a:t>■  </a:t>
            </a:r>
            <a:r>
              <a:rPr sz="2200">
                <a:solidFill>
                  <a:srgbClr val="101828"/>
                </a:solidFill>
                <a:latin typeface="Calibri"/>
              </a:rPr>
              <a:t>30 epochs, full fine-tune on RTX 5090, 105 hours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5A623"/>
                </a:solidFill>
              </a:rPr>
              <a:t>■  </a:t>
            </a:r>
            <a:r>
              <a:rPr sz="2200">
                <a:solidFill>
                  <a:srgbClr val="101828"/>
                </a:solidFill>
                <a:latin typeface="Calibri"/>
              </a:rPr>
              <a:t>Sweet spot of cost vs accuracy for a from-scratch trainable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Tier 5: SlowFast and TimeSformer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SlowFast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F5A623"/>
                </a:solidFill>
                <a:latin typeface="Calibri"/>
              </a:rPr>
              <a:t>36.34%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Partial run, Blackwell crash mid-epoch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K400 init, two pathways (Slow=8, Fast=32)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Loss decreasing 5.09 -&gt; 4.58 before crash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TimeSformer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F5A623"/>
                </a:solidFill>
                <a:latin typeface="Calibri"/>
              </a:rPr>
              <a:t>34.41%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Top-5 69.34%   /   F1 0.5734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K400 init, 8 frames, 121M params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bf16 stable end-to-end, 15 epochs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Tier 6: CNN + ConvLSTM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ResNet-18 backbone (ImageNet) + from-scratch ConvLSTM head. 27.01% top-1, 53.14% top-5, saturates by epoch 14. Strong on camera motion (83.6% on 'turning the camera left').</a:t>
            </a:r>
          </a:p>
        </p:txBody>
      </p:sp>
      <p:pic>
        <p:nvPicPr>
          <p:cNvPr id="8" name="Picture 7" descr="training_curv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9418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Tier 7: VideoMAE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029200" cy="2743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5A623"/>
                </a:solidFill>
                <a:latin typeface="Calibri"/>
              </a:rPr>
              <a:t>16.92%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top-1   (11/15 epochs)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ViT-B/16, K400 self-supervised pretrain, full fine-tune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Dataloader stalls capped throughput at 1.74 hr/epoch (vs 0.85 hr predicted)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Vast.ai host pause cost 24 hrs of wall-clock, finished at 11/15 epochs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Tier 8: TSM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029200" cy="2743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>
                <a:solidFill>
                  <a:srgbClr val="F5A623"/>
                </a:solidFill>
                <a:latin typeface="Calibri"/>
              </a:rPr>
              <a:t>6.27%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top-1   (overfit)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ResNet-50 with temporal shift in each bottleneck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30 epochs, train acc reached 96% but val stuck around 6%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5A623"/>
                </a:solidFill>
              </a:rPr>
              <a:t>■  </a:t>
            </a:r>
            <a:r>
              <a:rPr sz="2000">
                <a:solidFill>
                  <a:srgbClr val="101828"/>
                </a:solidFill>
                <a:latin typeface="Calibri"/>
              </a:rPr>
              <a:t>Massive train-val gap, classic overfit, temporal shift alone is not enough on SSv2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Bottom tier: PredRNN and ST-GCN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PredRNN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F5A623"/>
                </a:solidFill>
                <a:latin typeface="Calibri"/>
              </a:rPr>
              <a:t>4.67%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World model from scratch, 18.6M params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Picks up motion patterns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Misses physical transformations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ST-GCN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F5A623"/>
                </a:solidFill>
                <a:latin typeface="Calibri"/>
              </a:rPr>
              <a:t>3.94%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Skeleton-only, 3.1M params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55% MediaPipe pose detection rate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5A623"/>
                </a:solidFill>
              </a:rPr>
              <a:t>■  </a:t>
            </a:r>
            <a:r>
              <a:rPr sz="1800">
                <a:solidFill>
                  <a:srgbClr val="101828"/>
                </a:solidFill>
                <a:latin typeface="Calibri"/>
              </a:rPr>
              <a:t>SSv2 frames mostly show hands, not bodies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Both fundamentally limited on fine-grained hand-object interactions.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3353"/>
            <a:ext cx="1127729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Calibri"/>
              </a:rPr>
              <a:t>Per-class winners and losers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per_class_top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137" y="1076313"/>
            <a:ext cx="6209726" cy="3760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6477" y="53949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Camera-motion classes are easy across models. Pretending and physical-state classes are hard for everyone.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Discussion: four lessons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8813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719072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37360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Calibri"/>
              </a:rPr>
              <a:t>Pretraining dominates on SSv2.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108813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816352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34640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Calibri"/>
              </a:rPr>
              <a:t>Correctness before speed (the Bimamba lesson).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40"/>
            <a:ext cx="108813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3913632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91363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31920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Calibri"/>
              </a:rPr>
              <a:t>Skeleton-only is fundamentally limited.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108813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5010912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01091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029200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Calibri"/>
              </a:rPr>
              <a:t>VLMs are surprisingly competitive (Qwen 0.12% trainable, 58.19% top-1).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Conclusions and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5A623"/>
                </a:solidFill>
              </a:rPr>
              <a:t>■  </a:t>
            </a:r>
            <a:r>
              <a:rPr sz="2200">
                <a:solidFill>
                  <a:srgbClr val="101828"/>
                </a:solidFill>
                <a:latin typeface="Calibri"/>
              </a:rPr>
              <a:t>V-JEPA on A100 + native bf16 to recover the published 69.5%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F5A623"/>
                </a:solidFill>
              </a:rPr>
              <a:t>■  </a:t>
            </a:r>
            <a:r>
              <a:rPr sz="2200">
                <a:solidFill>
                  <a:srgbClr val="101828"/>
                </a:solidFill>
                <a:latin typeface="Calibri"/>
              </a:rPr>
              <a:t>Full 15-epoch </a:t>
            </a:r>
            <a:r>
              <a:rPr lang="en-US" sz="2200" err="1">
                <a:solidFill>
                  <a:srgbClr val="101828"/>
                </a:solidFill>
                <a:latin typeface="Calibri"/>
              </a:rPr>
              <a:t>VideoMamba</a:t>
            </a:r>
            <a:r>
              <a:rPr sz="2200">
                <a:solidFill>
                  <a:srgbClr val="101828"/>
                </a:solidFill>
                <a:latin typeface="Calibri"/>
              </a:rPr>
              <a:t> with the fused </a:t>
            </a:r>
            <a:r>
              <a:rPr lang="en-US" sz="2200" err="1">
                <a:solidFill>
                  <a:srgbClr val="101828"/>
                </a:solidFill>
                <a:latin typeface="Calibri"/>
              </a:rPr>
              <a:t>mamba_inner_fn</a:t>
            </a:r>
            <a:r>
              <a:rPr sz="2200">
                <a:solidFill>
                  <a:srgbClr val="101828"/>
                </a:solidFill>
                <a:latin typeface="Calibri"/>
              </a:rPr>
              <a:t> for 58-62% top-1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F5A623"/>
                </a:solidFill>
              </a:rPr>
              <a:t>■  </a:t>
            </a:r>
            <a:r>
              <a:rPr sz="2200">
                <a:solidFill>
                  <a:srgbClr val="101828"/>
                </a:solidFill>
                <a:latin typeface="Calibri"/>
              </a:rPr>
              <a:t>Multi-modal fusion: ST-GCN skeleton features + R(2+1)D RGB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F5A623"/>
                </a:solidFill>
              </a:rPr>
              <a:t>■  </a:t>
            </a:r>
            <a:r>
              <a:rPr sz="2200">
                <a:solidFill>
                  <a:srgbClr val="101828"/>
                </a:solidFill>
                <a:latin typeface="Calibri"/>
              </a:rPr>
              <a:t>Longer Qwen training: 3 epochs would likely push past V-JEPA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F5A623"/>
                </a:solidFill>
              </a:rPr>
              <a:t>■  </a:t>
            </a:r>
            <a:r>
              <a:rPr sz="2200">
                <a:solidFill>
                  <a:srgbClr val="101828"/>
                </a:solidFill>
                <a:latin typeface="Calibri"/>
              </a:rPr>
              <a:t>Curriculum on the 'pretending' and physical-state classes that defeat everyone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32120"/>
            <a:ext cx="10698480" cy="9144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5A623"/>
                </a:solidFill>
                <a:latin typeface="Calibri"/>
              </a:rPr>
              <a:t>Thanks.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2026-05-06T19:08:34Z</dcterms:modified>
  <cp:category/>
</cp:coreProperties>
</file>